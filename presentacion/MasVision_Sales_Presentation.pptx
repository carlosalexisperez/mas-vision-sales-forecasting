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FFAE70-D7B0-4431-AF87-272CBC3DE22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8A25A1-9DAF-42B7-9E32-321F289472A0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s-MX" dirty="0">
              <a:latin typeface="Aptos" panose="020B0004020202020204" pitchFamily="34" charset="0"/>
            </a:rPr>
            <a:t>En un entorno comercial altamente competitivo, el análisis de datos se ha convertido en una herramienta clave para optimizar la toma de decisiones y anticipar el comportamiento del mercado.</a:t>
          </a:r>
          <a:endParaRPr lang="en-US" dirty="0">
            <a:latin typeface="Aptos" panose="020B0004020202020204" pitchFamily="34" charset="0"/>
          </a:endParaRPr>
        </a:p>
      </dgm:t>
    </dgm:pt>
    <dgm:pt modelId="{3F79A3CD-2B2E-4AAE-9C93-10036AB2443B}" type="parTrans" cxnId="{C7662C39-16E4-45C4-B2EC-33B89A091528}">
      <dgm:prSet/>
      <dgm:spPr/>
      <dgm:t>
        <a:bodyPr/>
        <a:lstStyle/>
        <a:p>
          <a:endParaRPr lang="en-US"/>
        </a:p>
      </dgm:t>
    </dgm:pt>
    <dgm:pt modelId="{74A1BD95-4A6B-4A54-B686-BF789ABD6296}" type="sibTrans" cxnId="{C7662C39-16E4-45C4-B2EC-33B89A091528}">
      <dgm:prSet/>
      <dgm:spPr/>
      <dgm:t>
        <a:bodyPr/>
        <a:lstStyle/>
        <a:p>
          <a:endParaRPr lang="en-US"/>
        </a:p>
      </dgm:t>
    </dgm:pt>
    <dgm:pt modelId="{82B3115B-AB1E-4D37-8BAC-DAD22A741A55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s-MX" dirty="0">
              <a:latin typeface="Aptos" panose="020B0004020202020204" pitchFamily="34" charset="0"/>
            </a:rPr>
            <a:t>El presente proyecto fue desarrollado para la empresa con el objetivo de analizar el comportamiento histórico de las ventas, identificar patrones relevantes y generar proyecciones estratégicas para el año 2025 mediante técnicas de análisis exploratorio y modelado predictivo.</a:t>
          </a:r>
          <a:endParaRPr lang="en-US" dirty="0">
            <a:latin typeface="Aptos" panose="020B0004020202020204" pitchFamily="34" charset="0"/>
          </a:endParaRPr>
        </a:p>
      </dgm:t>
    </dgm:pt>
    <dgm:pt modelId="{4C05604C-7693-4ECB-8AC2-2A3A5BDDC968}" type="parTrans" cxnId="{5DA697C9-B6D3-4F8B-A345-67853B60CB29}">
      <dgm:prSet/>
      <dgm:spPr/>
      <dgm:t>
        <a:bodyPr/>
        <a:lstStyle/>
        <a:p>
          <a:endParaRPr lang="en-US"/>
        </a:p>
      </dgm:t>
    </dgm:pt>
    <dgm:pt modelId="{AA9748A9-6E13-42AB-923E-D70AF6BA42F0}" type="sibTrans" cxnId="{5DA697C9-B6D3-4F8B-A345-67853B60CB29}">
      <dgm:prSet/>
      <dgm:spPr/>
      <dgm:t>
        <a:bodyPr/>
        <a:lstStyle/>
        <a:p>
          <a:endParaRPr lang="en-US"/>
        </a:p>
      </dgm:t>
    </dgm:pt>
    <dgm:pt modelId="{C099448D-0056-4F99-8E7D-5B3547ECFA23}" type="pres">
      <dgm:prSet presAssocID="{39FFAE70-D7B0-4431-AF87-272CBC3DE221}" presName="root" presStyleCnt="0">
        <dgm:presLayoutVars>
          <dgm:dir/>
          <dgm:resizeHandles val="exact"/>
        </dgm:presLayoutVars>
      </dgm:prSet>
      <dgm:spPr/>
    </dgm:pt>
    <dgm:pt modelId="{C2AEDAAC-6065-44CB-BAB7-D516F692BF8D}" type="pres">
      <dgm:prSet presAssocID="{778A25A1-9DAF-42B7-9E32-321F289472A0}" presName="compNode" presStyleCnt="0"/>
      <dgm:spPr/>
    </dgm:pt>
    <dgm:pt modelId="{60B56025-D90E-4B34-85BE-2715649FF4E1}" type="pres">
      <dgm:prSet presAssocID="{778A25A1-9DAF-42B7-9E32-321F289472A0}" presName="bgRect" presStyleLbl="bgShp" presStyleIdx="0" presStyleCnt="2" custLinFactNeighborY="1398"/>
      <dgm:spPr/>
    </dgm:pt>
    <dgm:pt modelId="{114690A5-E9D1-4792-BB03-CF3C387D1EC8}" type="pres">
      <dgm:prSet presAssocID="{778A25A1-9DAF-42B7-9E32-321F289472A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2A0BAD95-825F-4216-902A-2210F717DEDF}" type="pres">
      <dgm:prSet presAssocID="{778A25A1-9DAF-42B7-9E32-321F289472A0}" presName="spaceRect" presStyleCnt="0"/>
      <dgm:spPr/>
    </dgm:pt>
    <dgm:pt modelId="{5E3F11DE-E1FD-4685-9F43-5086E349541B}" type="pres">
      <dgm:prSet presAssocID="{778A25A1-9DAF-42B7-9E32-321F289472A0}" presName="parTx" presStyleLbl="revTx" presStyleIdx="0" presStyleCnt="2">
        <dgm:presLayoutVars>
          <dgm:chMax val="0"/>
          <dgm:chPref val="0"/>
        </dgm:presLayoutVars>
      </dgm:prSet>
      <dgm:spPr/>
    </dgm:pt>
    <dgm:pt modelId="{F6F37EE8-88CC-4A91-AF23-D923FB6797A6}" type="pres">
      <dgm:prSet presAssocID="{74A1BD95-4A6B-4A54-B686-BF789ABD6296}" presName="sibTrans" presStyleCnt="0"/>
      <dgm:spPr/>
    </dgm:pt>
    <dgm:pt modelId="{E4F21DF5-01CA-468F-A058-7A0ECDD780F1}" type="pres">
      <dgm:prSet presAssocID="{82B3115B-AB1E-4D37-8BAC-DAD22A741A55}" presName="compNode" presStyleCnt="0"/>
      <dgm:spPr/>
    </dgm:pt>
    <dgm:pt modelId="{5566B59D-9506-4746-9BE7-43569AEE105F}" type="pres">
      <dgm:prSet presAssocID="{82B3115B-AB1E-4D37-8BAC-DAD22A741A55}" presName="bgRect" presStyleLbl="bgShp" presStyleIdx="1" presStyleCnt="2"/>
      <dgm:spPr/>
    </dgm:pt>
    <dgm:pt modelId="{61A6F463-9773-4F2D-9CB9-95D0BC916E90}" type="pres">
      <dgm:prSet presAssocID="{82B3115B-AB1E-4D37-8BAC-DAD22A741A5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A7809CC3-762A-481F-B3BF-8B7D4BD971CD}" type="pres">
      <dgm:prSet presAssocID="{82B3115B-AB1E-4D37-8BAC-DAD22A741A55}" presName="spaceRect" presStyleCnt="0"/>
      <dgm:spPr/>
    </dgm:pt>
    <dgm:pt modelId="{739990A0-4E59-48AB-80C4-D2EA1AB329C5}" type="pres">
      <dgm:prSet presAssocID="{82B3115B-AB1E-4D37-8BAC-DAD22A741A5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0631D1B-B4EF-4AB0-9D9D-7D8EF9B509EF}" type="presOf" srcId="{39FFAE70-D7B0-4431-AF87-272CBC3DE221}" destId="{C099448D-0056-4F99-8E7D-5B3547ECFA23}" srcOrd="0" destOrd="0" presId="urn:microsoft.com/office/officeart/2018/2/layout/IconVerticalSolidList"/>
    <dgm:cxn modelId="{C7662C39-16E4-45C4-B2EC-33B89A091528}" srcId="{39FFAE70-D7B0-4431-AF87-272CBC3DE221}" destId="{778A25A1-9DAF-42B7-9E32-321F289472A0}" srcOrd="0" destOrd="0" parTransId="{3F79A3CD-2B2E-4AAE-9C93-10036AB2443B}" sibTransId="{74A1BD95-4A6B-4A54-B686-BF789ABD6296}"/>
    <dgm:cxn modelId="{73932C71-D27E-4E59-A60A-03A7AF07419D}" type="presOf" srcId="{778A25A1-9DAF-42B7-9E32-321F289472A0}" destId="{5E3F11DE-E1FD-4685-9F43-5086E349541B}" srcOrd="0" destOrd="0" presId="urn:microsoft.com/office/officeart/2018/2/layout/IconVerticalSolidList"/>
    <dgm:cxn modelId="{0C492AC0-6335-4D25-BD85-E4A61466D28D}" type="presOf" srcId="{82B3115B-AB1E-4D37-8BAC-DAD22A741A55}" destId="{739990A0-4E59-48AB-80C4-D2EA1AB329C5}" srcOrd="0" destOrd="0" presId="urn:microsoft.com/office/officeart/2018/2/layout/IconVerticalSolidList"/>
    <dgm:cxn modelId="{5DA697C9-B6D3-4F8B-A345-67853B60CB29}" srcId="{39FFAE70-D7B0-4431-AF87-272CBC3DE221}" destId="{82B3115B-AB1E-4D37-8BAC-DAD22A741A55}" srcOrd="1" destOrd="0" parTransId="{4C05604C-7693-4ECB-8AC2-2A3A5BDDC968}" sibTransId="{AA9748A9-6E13-42AB-923E-D70AF6BA42F0}"/>
    <dgm:cxn modelId="{0F6CBCC5-3038-44E1-ADF5-DDD4E553F99E}" type="presParOf" srcId="{C099448D-0056-4F99-8E7D-5B3547ECFA23}" destId="{C2AEDAAC-6065-44CB-BAB7-D516F692BF8D}" srcOrd="0" destOrd="0" presId="urn:microsoft.com/office/officeart/2018/2/layout/IconVerticalSolidList"/>
    <dgm:cxn modelId="{E4D125DF-A4BE-4E03-8E7E-55607C344BB8}" type="presParOf" srcId="{C2AEDAAC-6065-44CB-BAB7-D516F692BF8D}" destId="{60B56025-D90E-4B34-85BE-2715649FF4E1}" srcOrd="0" destOrd="0" presId="urn:microsoft.com/office/officeart/2018/2/layout/IconVerticalSolidList"/>
    <dgm:cxn modelId="{0C620D4E-20F8-4078-A344-FF9BCD4ACE8A}" type="presParOf" srcId="{C2AEDAAC-6065-44CB-BAB7-D516F692BF8D}" destId="{114690A5-E9D1-4792-BB03-CF3C387D1EC8}" srcOrd="1" destOrd="0" presId="urn:microsoft.com/office/officeart/2018/2/layout/IconVerticalSolidList"/>
    <dgm:cxn modelId="{636469D6-DBAC-4C6C-BED3-DD732BDD74AD}" type="presParOf" srcId="{C2AEDAAC-6065-44CB-BAB7-D516F692BF8D}" destId="{2A0BAD95-825F-4216-902A-2210F717DEDF}" srcOrd="2" destOrd="0" presId="urn:microsoft.com/office/officeart/2018/2/layout/IconVerticalSolidList"/>
    <dgm:cxn modelId="{974A131F-D668-4862-B873-0F9F8EA6DDF8}" type="presParOf" srcId="{C2AEDAAC-6065-44CB-BAB7-D516F692BF8D}" destId="{5E3F11DE-E1FD-4685-9F43-5086E349541B}" srcOrd="3" destOrd="0" presId="urn:microsoft.com/office/officeart/2018/2/layout/IconVerticalSolidList"/>
    <dgm:cxn modelId="{B39E3668-0696-4EC8-9E41-76ADBFFDFA4B}" type="presParOf" srcId="{C099448D-0056-4F99-8E7D-5B3547ECFA23}" destId="{F6F37EE8-88CC-4A91-AF23-D923FB6797A6}" srcOrd="1" destOrd="0" presId="urn:microsoft.com/office/officeart/2018/2/layout/IconVerticalSolidList"/>
    <dgm:cxn modelId="{5F5D90C9-32B9-488D-91B5-D1B54AC19BAB}" type="presParOf" srcId="{C099448D-0056-4F99-8E7D-5B3547ECFA23}" destId="{E4F21DF5-01CA-468F-A058-7A0ECDD780F1}" srcOrd="2" destOrd="0" presId="urn:microsoft.com/office/officeart/2018/2/layout/IconVerticalSolidList"/>
    <dgm:cxn modelId="{CF68BE61-1E6C-487C-950A-4AC1F98D11FE}" type="presParOf" srcId="{E4F21DF5-01CA-468F-A058-7A0ECDD780F1}" destId="{5566B59D-9506-4746-9BE7-43569AEE105F}" srcOrd="0" destOrd="0" presId="urn:microsoft.com/office/officeart/2018/2/layout/IconVerticalSolidList"/>
    <dgm:cxn modelId="{309C825E-104B-4689-B90D-F8D17D8180A1}" type="presParOf" srcId="{E4F21DF5-01CA-468F-A058-7A0ECDD780F1}" destId="{61A6F463-9773-4F2D-9CB9-95D0BC916E90}" srcOrd="1" destOrd="0" presId="urn:microsoft.com/office/officeart/2018/2/layout/IconVerticalSolidList"/>
    <dgm:cxn modelId="{18BD436A-C68B-4ABA-ACFA-0A0CCF8747E1}" type="presParOf" srcId="{E4F21DF5-01CA-468F-A058-7A0ECDD780F1}" destId="{A7809CC3-762A-481F-B3BF-8B7D4BD971CD}" srcOrd="2" destOrd="0" presId="urn:microsoft.com/office/officeart/2018/2/layout/IconVerticalSolidList"/>
    <dgm:cxn modelId="{9C2CB5A8-6F4F-4640-8FB7-79BA9F66B671}" type="presParOf" srcId="{E4F21DF5-01CA-468F-A058-7A0ECDD780F1}" destId="{739990A0-4E59-48AB-80C4-D2EA1AB329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56025-D90E-4B34-85BE-2715649FF4E1}">
      <dsp:nvSpPr>
        <dsp:cNvPr id="0" name=""/>
        <dsp:cNvSpPr/>
      </dsp:nvSpPr>
      <dsp:spPr>
        <a:xfrm>
          <a:off x="0" y="648717"/>
          <a:ext cx="6254801" cy="13952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690A5-E9D1-4792-BB03-CF3C387D1EC8}">
      <dsp:nvSpPr>
        <dsp:cNvPr id="0" name=""/>
        <dsp:cNvSpPr/>
      </dsp:nvSpPr>
      <dsp:spPr>
        <a:xfrm>
          <a:off x="422050" y="943134"/>
          <a:ext cx="767365" cy="767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F11DE-E1FD-4685-9F43-5086E349541B}">
      <dsp:nvSpPr>
        <dsp:cNvPr id="0" name=""/>
        <dsp:cNvSpPr/>
      </dsp:nvSpPr>
      <dsp:spPr>
        <a:xfrm>
          <a:off x="1611467" y="629212"/>
          <a:ext cx="4643333" cy="1395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660" tIns="147660" rIns="147660" bIns="147660" numCol="1" spcCol="1270" anchor="ctr" anchorCtr="0">
          <a:noAutofit/>
        </a:bodyPr>
        <a:lstStyle/>
        <a:p>
          <a:pPr marL="0" lvl="0" indent="0" algn="just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latin typeface="Aptos" panose="020B0004020202020204" pitchFamily="34" charset="0"/>
            </a:rPr>
            <a:t>En un entorno comercial altamente competitivo, el análisis de datos se ha convertido en una herramienta clave para optimizar la toma de decisiones y anticipar el comportamiento del mercado.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1611467" y="629212"/>
        <a:ext cx="4643333" cy="1395209"/>
      </dsp:txXfrm>
    </dsp:sp>
    <dsp:sp modelId="{5566B59D-9506-4746-9BE7-43569AEE105F}">
      <dsp:nvSpPr>
        <dsp:cNvPr id="0" name=""/>
        <dsp:cNvSpPr/>
      </dsp:nvSpPr>
      <dsp:spPr>
        <a:xfrm>
          <a:off x="0" y="2352706"/>
          <a:ext cx="6254801" cy="13952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6F463-9773-4F2D-9CB9-95D0BC916E90}">
      <dsp:nvSpPr>
        <dsp:cNvPr id="0" name=""/>
        <dsp:cNvSpPr/>
      </dsp:nvSpPr>
      <dsp:spPr>
        <a:xfrm>
          <a:off x="422050" y="2666629"/>
          <a:ext cx="767365" cy="767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990A0-4E59-48AB-80C4-D2EA1AB329C5}">
      <dsp:nvSpPr>
        <dsp:cNvPr id="0" name=""/>
        <dsp:cNvSpPr/>
      </dsp:nvSpPr>
      <dsp:spPr>
        <a:xfrm>
          <a:off x="1611467" y="2352706"/>
          <a:ext cx="4643333" cy="1395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660" tIns="147660" rIns="147660" bIns="147660" numCol="1" spcCol="1270" anchor="ctr" anchorCtr="0">
          <a:noAutofit/>
        </a:bodyPr>
        <a:lstStyle/>
        <a:p>
          <a:pPr marL="0" lvl="0" indent="0" algn="just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latin typeface="Aptos" panose="020B0004020202020204" pitchFamily="34" charset="0"/>
            </a:rPr>
            <a:t>El presente proyecto fue desarrollado para la empresa con el objetivo de analizar el comportamiento histórico de las ventas, identificar patrones relevantes y generar proyecciones estratégicas para el año 2025 mediante técnicas de análisis exploratorio y modelado predictivo.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1611467" y="2352706"/>
        <a:ext cx="4643333" cy="13952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1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6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7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40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2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78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7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5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09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94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79CA69-2294-05B1-704F-95AA4BDEE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latin typeface="Aptos" panose="020B0004020202020204" pitchFamily="34" charset="0"/>
              </a:rPr>
              <a:t>Predicción y Análisis Estratégico de Ventas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1A8CC201-1B9F-2B66-E2B6-34D220D29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3597638"/>
            <a:ext cx="5195889" cy="2565417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Empresa: Más Visión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Carlos Alexis Pérez Cuevas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Científico de Datos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Curso: EBAC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Fecha: 14/05/2026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9B64B1-F169-304D-B46C-ED6B98C21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6" r="705" b="2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753923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Marcador de contenido 2">
            <a:extLst>
              <a:ext uri="{FF2B5EF4-FFF2-40B4-BE49-F238E27FC236}">
                <a16:creationId xmlns:a16="http://schemas.microsoft.com/office/drawing/2014/main" id="{E8DE8FBE-8E25-2AAA-7206-844AF6A11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2823878"/>
              </p:ext>
            </p:extLst>
          </p:nvPr>
        </p:nvGraphicFramePr>
        <p:xfrm>
          <a:off x="235940" y="1349114"/>
          <a:ext cx="6254801" cy="4377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0E2FAD4A-4981-EE3C-627C-68D0D805D206}"/>
              </a:ext>
            </a:extLst>
          </p:cNvPr>
          <p:cNvSpPr txBox="1"/>
          <p:nvPr/>
        </p:nvSpPr>
        <p:spPr>
          <a:xfrm>
            <a:off x="6610663" y="1582340"/>
            <a:ext cx="53453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Análisis exploratorio de ventas históricas.</a:t>
            </a:r>
            <a:br>
              <a:rPr lang="es-MX" dirty="0">
                <a:latin typeface="Aptos" panose="020B0004020202020204" pitchFamily="34" charset="0"/>
              </a:rPr>
            </a:br>
            <a:endParaRPr lang="es-MX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Evaluación del impacto de descuentos.</a:t>
            </a:r>
            <a:br>
              <a:rPr lang="es-MX" dirty="0">
                <a:latin typeface="Aptos" panose="020B0004020202020204" pitchFamily="34" charset="0"/>
              </a:rPr>
            </a:br>
            <a:endParaRPr lang="es-MX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Identificación de tendencias comerciales. </a:t>
            </a:r>
            <a:br>
              <a:rPr lang="es-MX" dirty="0">
                <a:latin typeface="Aptos" panose="020B0004020202020204" pitchFamily="34" charset="0"/>
              </a:rPr>
            </a:br>
            <a:endParaRPr lang="es-MX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Desarrollo de dashboard interactivo en Power BI. </a:t>
            </a:r>
            <a:br>
              <a:rPr lang="es-MX" dirty="0">
                <a:latin typeface="Aptos" panose="020B0004020202020204" pitchFamily="34" charset="0"/>
              </a:rPr>
            </a:br>
            <a:endParaRPr lang="es-MX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Implementación de modelo predictivo ARIMA. </a:t>
            </a:r>
            <a:br>
              <a:rPr lang="es-MX" dirty="0">
                <a:latin typeface="Aptos" panose="020B0004020202020204" pitchFamily="34" charset="0"/>
              </a:rPr>
            </a:br>
            <a:endParaRPr lang="es-MX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Generación de predicciones de ventas 2025.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A713EBD-462D-F79B-8720-BEF3CBEFFEEB}"/>
              </a:ext>
            </a:extLst>
          </p:cNvPr>
          <p:cNvSpPr txBox="1">
            <a:spLocks/>
          </p:cNvSpPr>
          <p:nvPr/>
        </p:nvSpPr>
        <p:spPr>
          <a:xfrm>
            <a:off x="3412536" y="155353"/>
            <a:ext cx="5366928" cy="5987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dirty="0">
                <a:latin typeface="Aptos" panose="020B0004020202020204" pitchFamily="34" charset="0"/>
              </a:rPr>
              <a:t>Alcance del proyecto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8C2E578-01C0-BF8B-3961-A2F19FC6D9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849602" y="6175947"/>
            <a:ext cx="1736733" cy="57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0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FC138A0-07ED-1067-95C1-529ACAB94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707432" y="6165330"/>
            <a:ext cx="2002833" cy="665548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19E4F7B2-17B1-6F77-BD62-DBBB4C037E4A}"/>
              </a:ext>
            </a:extLst>
          </p:cNvPr>
          <p:cNvSpPr txBox="1">
            <a:spLocks/>
          </p:cNvSpPr>
          <p:nvPr/>
        </p:nvSpPr>
        <p:spPr>
          <a:xfrm>
            <a:off x="3412536" y="155353"/>
            <a:ext cx="5366928" cy="5987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400" dirty="0">
                <a:latin typeface="Aptos" panose="020B0004020202020204" pitchFamily="34" charset="0"/>
              </a:rPr>
              <a:t>OBJETIVOS DEL PROYECTO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75B7980-C85F-59E7-7190-665DF2B6A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62" y="842572"/>
            <a:ext cx="10967803" cy="1661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1" dirty="0">
                <a:latin typeface="Aptos" panose="020B0004020202020204" pitchFamily="34" charset="0"/>
              </a:rPr>
              <a:t>Objetivo General</a:t>
            </a:r>
          </a:p>
          <a:p>
            <a:pPr marL="0" indent="0" algn="just">
              <a:buNone/>
            </a:pPr>
            <a:r>
              <a:rPr lang="es-MX" dirty="0">
                <a:latin typeface="Aptos" panose="020B0004020202020204" pitchFamily="34" charset="0"/>
              </a:rPr>
              <a:t>Desarrollar un modelo de análisis y predicción de ventas que permita identificar patrones comerciales y estimar el comportamiento futuro de las ventas para apoyar la toma de decisiones estratégicas.</a:t>
            </a:r>
          </a:p>
          <a:p>
            <a:pPr algn="just"/>
            <a:endParaRPr lang="es-MX" dirty="0"/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6859A763-1531-95E6-E914-3C37C425CB19}"/>
              </a:ext>
            </a:extLst>
          </p:cNvPr>
          <p:cNvSpPr txBox="1">
            <a:spLocks/>
          </p:cNvSpPr>
          <p:nvPr/>
        </p:nvSpPr>
        <p:spPr>
          <a:xfrm>
            <a:off x="2528618" y="2887396"/>
            <a:ext cx="7134764" cy="312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800" b="1" dirty="0">
                <a:latin typeface="Aptos" panose="020B0004020202020204" pitchFamily="34" charset="0"/>
              </a:rPr>
              <a:t>Objetivos Específicos</a:t>
            </a:r>
          </a:p>
          <a:p>
            <a:r>
              <a:rPr lang="es-MX" sz="1800" dirty="0">
                <a:latin typeface="Aptos" panose="020B0004020202020204" pitchFamily="34" charset="0"/>
              </a:rPr>
              <a:t>Analizar tendencias históricas de ventas. </a:t>
            </a:r>
          </a:p>
          <a:p>
            <a:r>
              <a:rPr lang="es-MX" sz="1800" dirty="0">
                <a:latin typeface="Aptos" panose="020B0004020202020204" pitchFamily="34" charset="0"/>
              </a:rPr>
              <a:t>Identificar estacionalidad y comportamiento por formato de tienda. </a:t>
            </a:r>
          </a:p>
          <a:p>
            <a:r>
              <a:rPr lang="es-MX" sz="1800" dirty="0">
                <a:latin typeface="Aptos" panose="020B0004020202020204" pitchFamily="34" charset="0"/>
              </a:rPr>
              <a:t>Evaluar el impacto de descuentos en el desempeño comercial. </a:t>
            </a:r>
          </a:p>
          <a:p>
            <a:r>
              <a:rPr lang="es-MX" sz="1800" dirty="0">
                <a:latin typeface="Aptos" panose="020B0004020202020204" pitchFamily="34" charset="0"/>
              </a:rPr>
              <a:t>Construir visualizaciones interactivas mediante Power BI. </a:t>
            </a:r>
          </a:p>
          <a:p>
            <a:r>
              <a:rPr lang="es-MX" sz="1800" dirty="0">
                <a:latin typeface="Aptos" panose="020B0004020202020204" pitchFamily="34" charset="0"/>
              </a:rPr>
              <a:t>Implementar un modelo predictivo basado en series temporales. </a:t>
            </a:r>
          </a:p>
          <a:p>
            <a:r>
              <a:rPr lang="es-MX" sz="1800" dirty="0">
                <a:latin typeface="Aptos" panose="020B0004020202020204" pitchFamily="34" charset="0"/>
              </a:rPr>
              <a:t>Generar proyecciones de ventas para 2025.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2321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36689-5BF0-BA3C-778E-97776596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68132A0-ABF2-2129-4B74-0CD43B8BE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506439" y="6192452"/>
            <a:ext cx="2002833" cy="665548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631D85F-FCB5-3FD5-4426-B2D4F518985A}"/>
              </a:ext>
            </a:extLst>
          </p:cNvPr>
          <p:cNvSpPr txBox="1">
            <a:spLocks/>
          </p:cNvSpPr>
          <p:nvPr/>
        </p:nvSpPr>
        <p:spPr>
          <a:xfrm>
            <a:off x="3412536" y="195684"/>
            <a:ext cx="5366928" cy="5696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s-MX" sz="3600" dirty="0">
                <a:latin typeface="Aptos" panose="020B0004020202020204" pitchFamily="34" charset="0"/>
              </a:rPr>
              <a:t>DATOS Y METODOLOGÍA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FEF85DB-3765-D705-BCBF-725F7ACCD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197" y="1114082"/>
            <a:ext cx="9973455" cy="446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>
                <a:latin typeface="Aptos" panose="020B0004020202020204" pitchFamily="34" charset="0"/>
              </a:rPr>
              <a:t>Se trabajó con información histórica de ventas correspondiente al periodo 2022–2024.</a:t>
            </a:r>
          </a:p>
          <a:p>
            <a:pPr algn="just"/>
            <a:endParaRPr lang="es-MX" dirty="0"/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106DF7B8-5567-C73A-6E79-21BA5D5960D4}"/>
              </a:ext>
            </a:extLst>
          </p:cNvPr>
          <p:cNvSpPr txBox="1">
            <a:spLocks/>
          </p:cNvSpPr>
          <p:nvPr/>
        </p:nvSpPr>
        <p:spPr>
          <a:xfrm>
            <a:off x="742462" y="2162966"/>
            <a:ext cx="3249119" cy="280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600" b="1" dirty="0">
                <a:latin typeface="Aptos" panose="020B0004020202020204" pitchFamily="34" charset="0"/>
              </a:rPr>
              <a:t>Variables principales analizadas</a:t>
            </a:r>
          </a:p>
          <a:p>
            <a:r>
              <a:rPr lang="es-MX" sz="1600" dirty="0">
                <a:latin typeface="Aptos" panose="020B0004020202020204" pitchFamily="34" charset="0"/>
              </a:rPr>
              <a:t>Fecha </a:t>
            </a:r>
          </a:p>
          <a:p>
            <a:r>
              <a:rPr lang="es-MX" sz="1600" dirty="0">
                <a:latin typeface="Aptos" panose="020B0004020202020204" pitchFamily="34" charset="0"/>
              </a:rPr>
              <a:t>Ventas totales </a:t>
            </a:r>
          </a:p>
          <a:p>
            <a:r>
              <a:rPr lang="es-MX" sz="1600" dirty="0">
                <a:latin typeface="Aptos" panose="020B0004020202020204" pitchFamily="34" charset="0"/>
              </a:rPr>
              <a:t>Categorías de producto </a:t>
            </a:r>
          </a:p>
          <a:p>
            <a:r>
              <a:rPr lang="es-MX" sz="1600" dirty="0">
                <a:latin typeface="Aptos" panose="020B0004020202020204" pitchFamily="34" charset="0"/>
              </a:rPr>
              <a:t>Formato de tienda </a:t>
            </a:r>
          </a:p>
          <a:p>
            <a:r>
              <a:rPr lang="es-MX" sz="1600" dirty="0">
                <a:latin typeface="Aptos" panose="020B0004020202020204" pitchFamily="34" charset="0"/>
              </a:rPr>
              <a:t>Descuentos oftálmicos </a:t>
            </a:r>
          </a:p>
          <a:p>
            <a:r>
              <a:rPr lang="es-MX" sz="1600" dirty="0">
                <a:latin typeface="Aptos" panose="020B0004020202020204" pitchFamily="34" charset="0"/>
              </a:rPr>
              <a:t>Ticket promedio</a:t>
            </a:r>
          </a:p>
          <a:p>
            <a:pPr algn="just"/>
            <a:endParaRPr lang="es-MX" sz="1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52A557E-59FF-A869-0D2C-DCE7BEF600DA}"/>
              </a:ext>
            </a:extLst>
          </p:cNvPr>
          <p:cNvSpPr txBox="1"/>
          <p:nvPr/>
        </p:nvSpPr>
        <p:spPr>
          <a:xfrm>
            <a:off x="4336531" y="2180269"/>
            <a:ext cx="246900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600" b="1" dirty="0">
                <a:latin typeface="Aptos" panose="020B0004020202020204" pitchFamily="34" charset="0"/>
              </a:rPr>
              <a:t>Herramientas utilizadas</a:t>
            </a:r>
          </a:p>
          <a:p>
            <a:pPr>
              <a:buNone/>
            </a:pPr>
            <a:endParaRPr lang="es-MX" sz="16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>
                <a:latin typeface="Aptos" panose="020B0004020202020204" pitchFamily="34" charset="0"/>
              </a:rPr>
              <a:t>Python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>
                <a:latin typeface="Aptos" panose="020B0004020202020204" pitchFamily="34" charset="0"/>
              </a:rPr>
              <a:t>Pandas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 err="1">
                <a:latin typeface="Aptos" panose="020B0004020202020204" pitchFamily="34" charset="0"/>
              </a:rPr>
              <a:t>Matplotlib</a:t>
            </a:r>
            <a:r>
              <a:rPr lang="es-MX" sz="1600" dirty="0">
                <a:latin typeface="Aptos" panose="020B00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 err="1">
                <a:latin typeface="Aptos" panose="020B0004020202020204" pitchFamily="34" charset="0"/>
              </a:rPr>
              <a:t>Statsmodels</a:t>
            </a:r>
            <a:r>
              <a:rPr lang="es-MX" sz="1600" dirty="0">
                <a:latin typeface="Aptos" panose="020B00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>
                <a:latin typeface="Aptos" panose="020B0004020202020204" pitchFamily="34" charset="0"/>
              </a:rPr>
              <a:t>Power BI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>
                <a:latin typeface="Aptos" panose="020B0004020202020204" pitchFamily="34" charset="0"/>
              </a:rPr>
              <a:t>Excel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68AECF-5E75-911B-F240-D41CCCA2D511}"/>
              </a:ext>
            </a:extLst>
          </p:cNvPr>
          <p:cNvSpPr txBox="1"/>
          <p:nvPr/>
        </p:nvSpPr>
        <p:spPr>
          <a:xfrm>
            <a:off x="7563340" y="2180269"/>
            <a:ext cx="388619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600" b="1" dirty="0">
                <a:latin typeface="Aptos" panose="020B0004020202020204" pitchFamily="34" charset="0"/>
              </a:rPr>
              <a:t>Metodología aplicada</a:t>
            </a:r>
          </a:p>
          <a:p>
            <a:pPr>
              <a:buNone/>
            </a:pPr>
            <a:endParaRPr lang="es-MX" sz="1600" b="1" dirty="0"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latin typeface="Aptos" panose="020B0004020202020204" pitchFamily="34" charset="0"/>
              </a:rPr>
              <a:t>Limpieza y transformación de datos</a:t>
            </a:r>
            <a:br>
              <a:rPr lang="es-MX" sz="1600" dirty="0">
                <a:latin typeface="Aptos" panose="020B0004020202020204" pitchFamily="34" charset="0"/>
              </a:rPr>
            </a:br>
            <a:r>
              <a:rPr lang="es-MX" sz="1600" dirty="0">
                <a:latin typeface="Aptos" panose="020B00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latin typeface="Aptos" panose="020B0004020202020204" pitchFamily="34" charset="0"/>
              </a:rPr>
              <a:t>Análisis exploratorio (EDA) </a:t>
            </a:r>
            <a:br>
              <a:rPr lang="es-MX" sz="1600" dirty="0">
                <a:latin typeface="Aptos" panose="020B0004020202020204" pitchFamily="34" charset="0"/>
              </a:rPr>
            </a:br>
            <a:endParaRPr lang="es-MX" sz="1600" dirty="0"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latin typeface="Aptos" panose="020B0004020202020204" pitchFamily="34" charset="0"/>
              </a:rPr>
              <a:t>Visualización de información </a:t>
            </a:r>
            <a:br>
              <a:rPr lang="es-MX" sz="1600" dirty="0">
                <a:latin typeface="Aptos" panose="020B0004020202020204" pitchFamily="34" charset="0"/>
              </a:rPr>
            </a:br>
            <a:endParaRPr lang="es-MX" sz="1600" dirty="0"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latin typeface="Aptos" panose="020B0004020202020204" pitchFamily="34" charset="0"/>
              </a:rPr>
              <a:t>Modelado predictivo ARIMA </a:t>
            </a:r>
            <a:br>
              <a:rPr lang="es-MX" sz="1600" dirty="0">
                <a:latin typeface="Aptos" panose="020B0004020202020204" pitchFamily="34" charset="0"/>
              </a:rPr>
            </a:br>
            <a:endParaRPr lang="es-MX" sz="1600" dirty="0"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s-MX" sz="1600" dirty="0">
                <a:latin typeface="Aptos" panose="020B0004020202020204" pitchFamily="34" charset="0"/>
              </a:rPr>
              <a:t>Generación de predicciones 2025</a:t>
            </a:r>
          </a:p>
        </p:txBody>
      </p:sp>
    </p:spTree>
    <p:extLst>
      <p:ext uri="{BB962C8B-B14F-4D97-AF65-F5344CB8AC3E}">
        <p14:creationId xmlns:p14="http://schemas.microsoft.com/office/powerpoint/2010/main" val="379523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65B94-5185-9592-055D-D29CC836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446" y="104931"/>
            <a:ext cx="8893070" cy="659567"/>
          </a:xfrm>
        </p:spPr>
        <p:txBody>
          <a:bodyPr>
            <a:normAutofit/>
          </a:bodyPr>
          <a:lstStyle/>
          <a:p>
            <a:r>
              <a:rPr lang="es-MX" sz="3600" dirty="0">
                <a:latin typeface="Aptos" panose="020B0004020202020204" pitchFamily="34" charset="0"/>
              </a:rPr>
              <a:t>ANÁLISIS EXPLORATORIO DE DATOS (EDA)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F1D6A-24F8-8ADC-7768-2E0B648FA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577" y="962816"/>
            <a:ext cx="10836809" cy="509321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MX" sz="4200" b="1" dirty="0">
                <a:latin typeface="Aptos" panose="020B0004020202020204" pitchFamily="34" charset="0"/>
              </a:rPr>
              <a:t>Principales Hallazgos</a:t>
            </a:r>
          </a:p>
          <a:p>
            <a:pPr marL="0" indent="0">
              <a:buNone/>
            </a:pPr>
            <a:endParaRPr lang="es-MX" sz="38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s-MX" sz="3800" b="1" dirty="0">
                <a:latin typeface="Aptos" panose="020B0004020202020204" pitchFamily="34" charset="0"/>
              </a:rPr>
              <a:t>Tendencias de ventas</a:t>
            </a:r>
          </a:p>
          <a:p>
            <a:r>
              <a:rPr lang="es-MX" sz="3800" dirty="0">
                <a:latin typeface="Aptos" panose="020B0004020202020204" pitchFamily="34" charset="0"/>
              </a:rPr>
              <a:t>Las ventas presentan una tendencia de crecimiento sostenido durante el periodo analizado. </a:t>
            </a:r>
          </a:p>
          <a:p>
            <a:r>
              <a:rPr lang="es-MX" sz="3800" dirty="0">
                <a:latin typeface="Aptos" panose="020B0004020202020204" pitchFamily="34" charset="0"/>
              </a:rPr>
              <a:t>Se identificaron patrones de comportamiento mensual asociados a temporadas comerciales específicas. </a:t>
            </a:r>
            <a:br>
              <a:rPr lang="es-MX" sz="3800" dirty="0">
                <a:latin typeface="Aptos" panose="020B0004020202020204" pitchFamily="34" charset="0"/>
              </a:rPr>
            </a:br>
            <a:endParaRPr lang="es-MX" sz="3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s-MX" sz="3800" b="1" dirty="0">
                <a:latin typeface="Aptos" panose="020B0004020202020204" pitchFamily="34" charset="0"/>
              </a:rPr>
              <a:t>Comportamiento por formato</a:t>
            </a:r>
          </a:p>
          <a:p>
            <a:pPr marL="285750" indent="-285750"/>
            <a:r>
              <a:rPr lang="es-MX" sz="3800" dirty="0">
                <a:latin typeface="Aptos" panose="020B0004020202020204" pitchFamily="34" charset="0"/>
              </a:rPr>
              <a:t>Algunos formatos de tienda concentran un mayor volumen de ventas. </a:t>
            </a:r>
          </a:p>
          <a:p>
            <a:pPr marL="285750" indent="-285750"/>
            <a:r>
              <a:rPr lang="es-MX" sz="3800" dirty="0">
                <a:latin typeface="Aptos" panose="020B0004020202020204" pitchFamily="34" charset="0"/>
              </a:rPr>
              <a:t>El formato E presentó la mayor participación dentro del total comercial.</a:t>
            </a:r>
          </a:p>
          <a:p>
            <a:pPr marL="0" indent="0">
              <a:buNone/>
            </a:pPr>
            <a:r>
              <a:rPr lang="es-MX" sz="3800" dirty="0">
                <a:latin typeface="Aptos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MX" sz="3800" b="1" dirty="0">
                <a:latin typeface="Aptos" panose="020B0004020202020204" pitchFamily="34" charset="0"/>
              </a:rPr>
              <a:t>Categorías de producto</a:t>
            </a:r>
          </a:p>
          <a:p>
            <a:pPr marL="285750" indent="-285750"/>
            <a:r>
              <a:rPr lang="es-MX" sz="3800" dirty="0">
                <a:latin typeface="Aptos" panose="020B0004020202020204" pitchFamily="34" charset="0"/>
              </a:rPr>
              <a:t>La categoría oftálmica mostró la mayor contribución al total de ingresos. </a:t>
            </a:r>
          </a:p>
          <a:p>
            <a:pPr marL="285750" indent="-285750"/>
            <a:r>
              <a:rPr lang="es-MX" sz="3800" dirty="0">
                <a:latin typeface="Aptos" panose="020B0004020202020204" pitchFamily="34" charset="0"/>
              </a:rPr>
              <a:t>Las categorías presentan comportamientos relativamente equilibrados.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B3B705-D56B-FB5B-8600-1F771FBD2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735099" y="6175947"/>
            <a:ext cx="1736733" cy="57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9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5C3C2-D2B3-E891-0B76-5019FFB1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236" y="82446"/>
            <a:ext cx="9882421" cy="614597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Aptos" panose="020B0004020202020204" pitchFamily="34" charset="0"/>
              </a:rPr>
              <a:t>IMPACTO DE DESCUENTOS Y ESTACIONALIDAD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E7882A-5BC4-F17C-0A8B-DA6CE9445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992799"/>
            <a:ext cx="10691265" cy="806021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>
                <a:latin typeface="Aptos" panose="020B0004020202020204" pitchFamily="34" charset="0"/>
              </a:rPr>
              <a:t>El análisis permitió identificar que los descuentos presentan una influencia positiva en determinados periodos comerciales, especialmente durante temporadas de mayor demanda.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C7B2F0-4F3F-DD97-B42B-874D2E3F5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704899" y="6198432"/>
            <a:ext cx="1736733" cy="5771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590750C-7934-B972-B1A9-A4269006A4CC}"/>
              </a:ext>
            </a:extLst>
          </p:cNvPr>
          <p:cNvSpPr txBox="1"/>
          <p:nvPr/>
        </p:nvSpPr>
        <p:spPr>
          <a:xfrm>
            <a:off x="750366" y="2094576"/>
            <a:ext cx="78240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Insights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Los descuentos moderados favorecen el incremento de ventas.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Existen meses con comportamiento claramente estacional.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Algunas sucursales presentan oportunidades de optimización comercial.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Se detectó estabilidad en categorías estratégicas.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E2B899-FAB0-A05F-B198-47AD86910184}"/>
              </a:ext>
            </a:extLst>
          </p:cNvPr>
          <p:cNvSpPr txBox="1"/>
          <p:nvPr/>
        </p:nvSpPr>
        <p:spPr>
          <a:xfrm>
            <a:off x="5825004" y="4357991"/>
            <a:ext cx="52122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Oportunidades detectadas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Optimización de campañas promocionales.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Segmentación de descuentos.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Planeación comercial basada en temporalidad. </a:t>
            </a:r>
          </a:p>
        </p:txBody>
      </p:sp>
    </p:spTree>
    <p:extLst>
      <p:ext uri="{BB962C8B-B14F-4D97-AF65-F5344CB8AC3E}">
        <p14:creationId xmlns:p14="http://schemas.microsoft.com/office/powerpoint/2010/main" val="243308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81CE0-3939-ECAB-E90D-04912028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271" y="92569"/>
            <a:ext cx="7897457" cy="644577"/>
          </a:xfrm>
        </p:spPr>
        <p:txBody>
          <a:bodyPr>
            <a:normAutofit/>
          </a:bodyPr>
          <a:lstStyle/>
          <a:p>
            <a:r>
              <a:rPr lang="es-MX" sz="3600" dirty="0">
                <a:latin typeface="Aptos" panose="020B0004020202020204" pitchFamily="34" charset="0"/>
              </a:rPr>
              <a:t>Dashboard Comercial Ejecutivo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0D668FC0-0191-893F-7343-A62D05067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15" y="1525198"/>
            <a:ext cx="6730526" cy="37401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AE47BF-A19A-D120-8E4E-F711B755E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569987" y="6175947"/>
            <a:ext cx="1736733" cy="57712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FABF85D-69D2-7E10-7BE4-87FF8C74B4D0}"/>
              </a:ext>
            </a:extLst>
          </p:cNvPr>
          <p:cNvSpPr txBox="1"/>
          <p:nvPr/>
        </p:nvSpPr>
        <p:spPr>
          <a:xfrm>
            <a:off x="6724211" y="1258003"/>
            <a:ext cx="47282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ptos" panose="020B0004020202020204" pitchFamily="34" charset="0"/>
              </a:rPr>
              <a:t>El dashboard fue diseñado para facilitar el monitoreo dinámico del desempeño comercial mediante indicadores clave y visualizaciones interactivas.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2C8B5B-17D2-B783-AFCE-81BEE5EDDA93}"/>
              </a:ext>
            </a:extLst>
          </p:cNvPr>
          <p:cNvSpPr txBox="1"/>
          <p:nvPr/>
        </p:nvSpPr>
        <p:spPr>
          <a:xfrm>
            <a:off x="6724211" y="3301477"/>
            <a:ext cx="49167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Funcionalidades principales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Seguimiento de ventas totales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Comparativa por formato de tienda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Distribución por categoría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Tendencias mensuales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Filtros dinámicos por año, mes y descuentos</a:t>
            </a:r>
          </a:p>
        </p:txBody>
      </p:sp>
    </p:spTree>
    <p:extLst>
      <p:ext uri="{BB962C8B-B14F-4D97-AF65-F5344CB8AC3E}">
        <p14:creationId xmlns:p14="http://schemas.microsoft.com/office/powerpoint/2010/main" val="161641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AFC20-FE96-6A71-E713-93CF9CEB7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183" y="104931"/>
            <a:ext cx="8188532" cy="659567"/>
          </a:xfrm>
        </p:spPr>
        <p:txBody>
          <a:bodyPr>
            <a:normAutofit/>
          </a:bodyPr>
          <a:lstStyle/>
          <a:p>
            <a:r>
              <a:rPr lang="es-MX" sz="3600" dirty="0">
                <a:latin typeface="Aptos" panose="020B0004020202020204" pitchFamily="34" charset="0"/>
              </a:rPr>
              <a:t>Principales Insights Comerciales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25CDE6-3F92-8C84-7440-046B0CF61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99" y="938562"/>
            <a:ext cx="7115830" cy="34006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97A34C-4229-757D-0F3B-22E57C464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219" y="1118802"/>
            <a:ext cx="4340991" cy="304013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0AB76F5-F14B-0CB0-D3EF-967E71C4D5F0}"/>
              </a:ext>
            </a:extLst>
          </p:cNvPr>
          <p:cNvSpPr txBox="1"/>
          <p:nvPr/>
        </p:nvSpPr>
        <p:spPr>
          <a:xfrm>
            <a:off x="1791247" y="4346193"/>
            <a:ext cx="73864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Insights 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Las ventas muestran crecimiento sostenido entre 2022 y 2024.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El formato E concentra el mayor volumen comercial.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La categoría oftálmica representa la mayor participación de ventas.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Los descuentos generan impacto positivo en determinados periodos.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198D809-2C1F-8467-B0AA-2873558129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719888" y="6175947"/>
            <a:ext cx="1736733" cy="57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4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1C814-FDEB-EAD5-D5DF-9ADDA2BC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254" y="79144"/>
            <a:ext cx="9777490" cy="674557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Aptos" panose="020B0004020202020204" pitchFamily="34" charset="0"/>
              </a:rPr>
              <a:t>Modelo Predictivo de Series Temporales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182A63-88DF-E6A7-674E-7F45F664E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89" y="1022778"/>
            <a:ext cx="10796821" cy="910952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Aptos" panose="020B0004020202020204" pitchFamily="34" charset="0"/>
              </a:rPr>
              <a:t>Para estimar el comportamiento futuro de las ventas se implementó un modelo ARIMA orientado al análisis de series temporales.</a:t>
            </a:r>
          </a:p>
          <a:p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B1170B-2371-8F37-AA2C-8EC31E26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569987" y="6175947"/>
            <a:ext cx="1736733" cy="57712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BB926E0-155B-134C-75CB-A695C5FE1F4B}"/>
              </a:ext>
            </a:extLst>
          </p:cNvPr>
          <p:cNvSpPr txBox="1"/>
          <p:nvPr/>
        </p:nvSpPr>
        <p:spPr>
          <a:xfrm>
            <a:off x="2017129" y="2303061"/>
            <a:ext cx="28251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b="1" dirty="0">
                <a:latin typeface="Aptos" panose="020B0004020202020204" pitchFamily="34" charset="0"/>
              </a:rPr>
              <a:t>Modelo seleccionado:</a:t>
            </a:r>
          </a:p>
          <a:p>
            <a:pPr>
              <a:buNone/>
            </a:pPr>
            <a:endParaRPr lang="es-MX" sz="20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latin typeface="Aptos" panose="020B0004020202020204" pitchFamily="34" charset="0"/>
              </a:rPr>
              <a:t>ARIMA (2,1,2)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1976115-3611-6C66-2CDD-E022C11D7A3A}"/>
              </a:ext>
            </a:extLst>
          </p:cNvPr>
          <p:cNvSpPr txBox="1"/>
          <p:nvPr/>
        </p:nvSpPr>
        <p:spPr>
          <a:xfrm>
            <a:off x="5640438" y="1933730"/>
            <a:ext cx="56662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¿Por qué ARIMA?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Adecuado para series temporales.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Permite capturar tendencias históricas.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Identifica patrones de comportamiento secuencial.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Buen desempeño en forecasting comercial.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7F14B5D-0D88-8BA9-7BC0-6B3D4CD241DB}"/>
              </a:ext>
            </a:extLst>
          </p:cNvPr>
          <p:cNvSpPr txBox="1"/>
          <p:nvPr/>
        </p:nvSpPr>
        <p:spPr>
          <a:xfrm>
            <a:off x="2017129" y="3896230"/>
            <a:ext cx="28251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b="1" dirty="0">
                <a:latin typeface="Aptos" panose="020B0004020202020204" pitchFamily="34" charset="0"/>
              </a:rPr>
              <a:t>Métricas del modelo:</a:t>
            </a:r>
          </a:p>
          <a:p>
            <a:pPr>
              <a:buNone/>
            </a:pPr>
            <a:endParaRPr lang="es-MX" sz="20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latin typeface="Aptos" panose="020B0004020202020204" pitchFamily="34" charset="0"/>
              </a:rPr>
              <a:t>MAE = 373.76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latin typeface="Aptos" panose="020B0004020202020204" pitchFamily="34" charset="0"/>
              </a:rPr>
              <a:t>RMSE = 458.33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latin typeface="Aptos" panose="020B0004020202020204" pitchFamily="34" charset="0"/>
              </a:rPr>
              <a:t>R² = 0.397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latin typeface="Aptos" panose="020B0004020202020204" pitchFamily="34" charset="0"/>
              </a:rPr>
              <a:t>AIC = 325.68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38450CF-742E-2D35-9427-B49ACABAE182}"/>
              </a:ext>
            </a:extLst>
          </p:cNvPr>
          <p:cNvSpPr txBox="1"/>
          <p:nvPr/>
        </p:nvSpPr>
        <p:spPr>
          <a:xfrm>
            <a:off x="5640437" y="4357894"/>
            <a:ext cx="5467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ptos" panose="020B0004020202020204" pitchFamily="34" charset="0"/>
              </a:rPr>
              <a:t>Aunque el comportamiento de las ventas presenta cierta variabilidad inherente, el modelo ARIMA demostró una capacidad adecuada para identificar tendencias y generar proyecciones comerciales relevantes para la planeación estratégica del negocio.</a:t>
            </a:r>
          </a:p>
        </p:txBody>
      </p:sp>
    </p:spTree>
    <p:extLst>
      <p:ext uri="{BB962C8B-B14F-4D97-AF65-F5344CB8AC3E}">
        <p14:creationId xmlns:p14="http://schemas.microsoft.com/office/powerpoint/2010/main" val="4275575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96F7B75-A44A-DB26-F798-5554FEB93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158" y="1559051"/>
            <a:ext cx="7078550" cy="373989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5EFFA5-17F9-0451-7D3A-2239AE35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698" y="119922"/>
            <a:ext cx="6554604" cy="644577"/>
          </a:xfrm>
        </p:spPr>
        <p:txBody>
          <a:bodyPr>
            <a:normAutofit/>
          </a:bodyPr>
          <a:lstStyle/>
          <a:p>
            <a:r>
              <a:rPr lang="es-MX" sz="3600" dirty="0">
                <a:latin typeface="Aptos" panose="020B0004020202020204" pitchFamily="34" charset="0"/>
              </a:rPr>
              <a:t>Proyección de Ventas 2025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E95935-71CE-974A-9C6C-81C6E9BD7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344" y="1133889"/>
            <a:ext cx="3346708" cy="3123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b="1" dirty="0">
                <a:latin typeface="Aptos" panose="020B0004020202020204" pitchFamily="34" charset="0"/>
              </a:rPr>
              <a:t>Resultados esperados</a:t>
            </a:r>
          </a:p>
          <a:p>
            <a:pPr algn="just"/>
            <a:r>
              <a:rPr lang="es-MX" sz="1800" dirty="0">
                <a:latin typeface="Aptos" panose="020B0004020202020204" pitchFamily="34" charset="0"/>
              </a:rPr>
              <a:t>Se proyecta continuidad en la tendencia de crecimiento. </a:t>
            </a:r>
          </a:p>
          <a:p>
            <a:pPr algn="just"/>
            <a:r>
              <a:rPr lang="es-MX" sz="1800" dirty="0">
                <a:latin typeface="Aptos" panose="020B0004020202020204" pitchFamily="34" charset="0"/>
              </a:rPr>
              <a:t>El comportamiento mensual mantiene patrones similares al histórico. </a:t>
            </a:r>
          </a:p>
          <a:p>
            <a:pPr algn="just"/>
            <a:r>
              <a:rPr lang="es-MX" sz="1800" dirty="0">
                <a:latin typeface="Aptos" panose="020B0004020202020204" pitchFamily="34" charset="0"/>
              </a:rPr>
              <a:t>Existen periodos con mayor potencial comercial. 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ED4E7F-7632-E69B-6470-60F1F12DC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569987" y="6175947"/>
            <a:ext cx="1736733" cy="57712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CCCDBE9-19A4-B316-260A-B13BF546DDBE}"/>
              </a:ext>
            </a:extLst>
          </p:cNvPr>
          <p:cNvSpPr txBox="1"/>
          <p:nvPr/>
        </p:nvSpPr>
        <p:spPr>
          <a:xfrm>
            <a:off x="1145344" y="4257206"/>
            <a:ext cx="31118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Aptos" panose="020B0004020202020204" pitchFamily="34" charset="0"/>
              </a:rPr>
              <a:t>Insights</a:t>
            </a:r>
          </a:p>
          <a:p>
            <a:pPr algn="just"/>
            <a:endParaRPr lang="es-MX" dirty="0">
              <a:latin typeface="Aptos" panose="020B0004020202020204" pitchFamily="34" charset="0"/>
            </a:endParaRPr>
          </a:p>
          <a:p>
            <a:pPr algn="just"/>
            <a:r>
              <a:rPr lang="es-MX" dirty="0">
                <a:latin typeface="Aptos" panose="020B0004020202020204" pitchFamily="34" charset="0"/>
              </a:rPr>
              <a:t>Las predicciones permiten anticipar demanda, optimizar inventarios y fortalecer la planeación comercial.</a:t>
            </a:r>
          </a:p>
        </p:txBody>
      </p:sp>
    </p:spTree>
    <p:extLst>
      <p:ext uri="{BB962C8B-B14F-4D97-AF65-F5344CB8AC3E}">
        <p14:creationId xmlns:p14="http://schemas.microsoft.com/office/powerpoint/2010/main" val="141102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4AD84-75E2-59BD-D626-330286075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923" y="129141"/>
            <a:ext cx="6569595" cy="719528"/>
          </a:xfrm>
        </p:spPr>
        <p:txBody>
          <a:bodyPr>
            <a:normAutofit/>
          </a:bodyPr>
          <a:lstStyle/>
          <a:p>
            <a:r>
              <a:rPr lang="es-MX" sz="3600" dirty="0">
                <a:latin typeface="Aptos" panose="020B0004020202020204" pitchFamily="34" charset="0"/>
              </a:rPr>
              <a:t>RIESGOS Y OPORTUNIDADES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8F8B58-BC45-441E-41E6-FDF06EE68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345" y="1093982"/>
            <a:ext cx="5688376" cy="216840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MX" sz="4200" b="1" dirty="0">
                <a:latin typeface="Aptos" panose="020B0004020202020204" pitchFamily="34" charset="0"/>
              </a:rPr>
              <a:t>Oportunidades</a:t>
            </a:r>
          </a:p>
          <a:p>
            <a:r>
              <a:rPr lang="es-MX" sz="4200" dirty="0">
                <a:latin typeface="Aptos" panose="020B0004020202020204" pitchFamily="34" charset="0"/>
              </a:rPr>
              <a:t>Optimización de campañas promocionales.</a:t>
            </a:r>
          </a:p>
          <a:p>
            <a:r>
              <a:rPr lang="es-MX" sz="4200" dirty="0">
                <a:latin typeface="Aptos" panose="020B0004020202020204" pitchFamily="34" charset="0"/>
              </a:rPr>
              <a:t>Planeación estratégica basada en predicciones.</a:t>
            </a:r>
          </a:p>
          <a:p>
            <a:r>
              <a:rPr lang="es-MX" sz="4200" dirty="0">
                <a:latin typeface="Aptos" panose="020B0004020202020204" pitchFamily="34" charset="0"/>
              </a:rPr>
              <a:t>Mejor gestión de inventario. </a:t>
            </a:r>
          </a:p>
          <a:p>
            <a:r>
              <a:rPr lang="es-MX" sz="4200" dirty="0">
                <a:latin typeface="Aptos" panose="020B0004020202020204" pitchFamily="34" charset="0"/>
              </a:rPr>
              <a:t>Segmentación comercial por formato. 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2392B5-A24E-5ED5-A067-11047828D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569987" y="6175947"/>
            <a:ext cx="1736733" cy="5771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2B86A01-04C3-E51F-21C3-D7314AE27366}"/>
              </a:ext>
            </a:extLst>
          </p:cNvPr>
          <p:cNvSpPr txBox="1"/>
          <p:nvPr/>
        </p:nvSpPr>
        <p:spPr>
          <a:xfrm>
            <a:off x="5501391" y="3595616"/>
            <a:ext cx="5805330" cy="2335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latin typeface="Aptos" panose="020B000402020202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4pPr>
            <a:lvl5pPr marL="20574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9pPr>
          </a:lstStyle>
          <a:p>
            <a:r>
              <a:rPr lang="es-MX" dirty="0"/>
              <a:t>Riesgos identificados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0" dirty="0"/>
              <a:t>Dependencia estacional.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0" dirty="0"/>
              <a:t>Variabilidad comercial entre formatos.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0" dirty="0"/>
              <a:t>Posible sobredependencia de descuentos.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0" dirty="0"/>
              <a:t>Cambios externos en demanda del mercado.</a:t>
            </a:r>
          </a:p>
        </p:txBody>
      </p:sp>
    </p:spTree>
    <p:extLst>
      <p:ext uri="{BB962C8B-B14F-4D97-AF65-F5344CB8AC3E}">
        <p14:creationId xmlns:p14="http://schemas.microsoft.com/office/powerpoint/2010/main" val="3504103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42E9E-0DAF-7769-DC95-5F355912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101" y="104931"/>
            <a:ext cx="7783798" cy="689548"/>
          </a:xfrm>
        </p:spPr>
        <p:txBody>
          <a:bodyPr>
            <a:normAutofit/>
          </a:bodyPr>
          <a:lstStyle/>
          <a:p>
            <a:r>
              <a:rPr lang="es-MX" sz="3600" dirty="0">
                <a:latin typeface="Aptos" panose="020B0004020202020204" pitchFamily="34" charset="0"/>
              </a:rPr>
              <a:t>RECOMENDACIONES ESTRATÉGICAS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E1DDE1-E6DF-49BB-B470-752551A22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569987" y="6175947"/>
            <a:ext cx="1736733" cy="5771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AD0F8D7-5187-FDE5-4B1A-080A19D0CB76}"/>
              </a:ext>
            </a:extLst>
          </p:cNvPr>
          <p:cNvSpPr txBox="1"/>
          <p:nvPr/>
        </p:nvSpPr>
        <p:spPr>
          <a:xfrm>
            <a:off x="738266" y="921338"/>
            <a:ext cx="6232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Estrategia comercial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latin typeface="Aptos" panose="020B00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Implementar campañas segmentadas por temporalidad. 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Fortalecer formatos con mayor desempeño. 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Optimizar descuentos según comportamiento histórico.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798F6F-7310-6895-2885-9EEA28665FC9}"/>
              </a:ext>
            </a:extLst>
          </p:cNvPr>
          <p:cNvSpPr txBox="1"/>
          <p:nvPr/>
        </p:nvSpPr>
        <p:spPr>
          <a:xfrm>
            <a:off x="2698230" y="2828835"/>
            <a:ext cx="68717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Planeación operativa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Utilizar predicciones para gestión de inventario. 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Actualizar periódicamente el modelo predictivo. 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Monitorear KPIs comerciales en tiempo real mediante Power BI.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5F87B5-0283-C119-C754-0A97A228B5CB}"/>
              </a:ext>
            </a:extLst>
          </p:cNvPr>
          <p:cNvSpPr txBox="1"/>
          <p:nvPr/>
        </p:nvSpPr>
        <p:spPr>
          <a:xfrm>
            <a:off x="5150371" y="4736333"/>
            <a:ext cx="67418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Inteligencia de negocio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Fortalecer la toma de decisiones basada en datos.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Incorporar nuevas variables para mejorar precisión predictiva. </a:t>
            </a:r>
          </a:p>
        </p:txBody>
      </p:sp>
    </p:spTree>
    <p:extLst>
      <p:ext uri="{BB962C8B-B14F-4D97-AF65-F5344CB8AC3E}">
        <p14:creationId xmlns:p14="http://schemas.microsoft.com/office/powerpoint/2010/main" val="3354949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05175-A83F-EC6F-7FCE-E712A2921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5248" y="104931"/>
            <a:ext cx="3661503" cy="674557"/>
          </a:xfrm>
        </p:spPr>
        <p:txBody>
          <a:bodyPr>
            <a:normAutofit/>
          </a:bodyPr>
          <a:lstStyle/>
          <a:p>
            <a:r>
              <a:rPr lang="es-MX" sz="3600" dirty="0">
                <a:latin typeface="Aptos" panose="020B0004020202020204" pitchFamily="34" charset="0"/>
              </a:rPr>
              <a:t>CONCLUSIONES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287B61-A9E5-D351-A3C3-699B2894DCB4}"/>
              </a:ext>
            </a:extLst>
          </p:cNvPr>
          <p:cNvSpPr txBox="1"/>
          <p:nvPr/>
        </p:nvSpPr>
        <p:spPr>
          <a:xfrm>
            <a:off x="2460884" y="986839"/>
            <a:ext cx="7270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>
                <a:latin typeface="Aptos" panose="020B0004020202020204" pitchFamily="34" charset="0"/>
              </a:rPr>
              <a:t>El proyecto permitió transformar información histórica en conocimiento estratégico orientado a la toma de decisiones comerciales.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A4F106-7AEB-77F2-4FF3-A1505A3A860A}"/>
              </a:ext>
            </a:extLst>
          </p:cNvPr>
          <p:cNvSpPr txBox="1"/>
          <p:nvPr/>
        </p:nvSpPr>
        <p:spPr>
          <a:xfrm>
            <a:off x="438461" y="2154836"/>
            <a:ext cx="56575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Principales resultados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Identificación de patrones y tendencias de ventas.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Desarrollo de visualizaciones ejecutivas en Power BI.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Implementación de un modelo predictivo ARIMA.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Generación de proyecciones comerciales para 2025.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FB069D4-AAF2-E34D-6235-C1A4670221E4}"/>
              </a:ext>
            </a:extLst>
          </p:cNvPr>
          <p:cNvSpPr txBox="1"/>
          <p:nvPr/>
        </p:nvSpPr>
        <p:spPr>
          <a:xfrm>
            <a:off x="6605194" y="2154836"/>
            <a:ext cx="53701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Valor generado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Mejor visibilidad del desempeño comercial.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Planeación estratégica basada en datos.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Capacidad predictiva para futuras decisiones.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Identificación de oportunidades de optimización.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769F068-D463-99F1-542D-C132BD0E539D}"/>
              </a:ext>
            </a:extLst>
          </p:cNvPr>
          <p:cNvSpPr txBox="1"/>
          <p:nvPr/>
        </p:nvSpPr>
        <p:spPr>
          <a:xfrm>
            <a:off x="3561412" y="4306163"/>
            <a:ext cx="50691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Aptos" panose="020B0004020202020204" pitchFamily="34" charset="0"/>
              </a:rPr>
              <a:t>Próximos pasos</a:t>
            </a:r>
          </a:p>
          <a:p>
            <a:pPr>
              <a:buNone/>
            </a:pPr>
            <a:endParaRPr lang="es-MX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Incorporar nuevas variables externas.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Mejorar precisión del modelo.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Automatizar actualizaciones del dashboard.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Escalar el análisis a nuevas áreas del negocio.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600D649-26A7-8568-E880-EC535E843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569987" y="6175947"/>
            <a:ext cx="1736733" cy="57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9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AED84-EA3C-D74D-4651-A7D09149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530" y="3112332"/>
            <a:ext cx="2757644" cy="835702"/>
          </a:xfrm>
        </p:spPr>
        <p:txBody>
          <a:bodyPr>
            <a:normAutofit/>
          </a:bodyPr>
          <a:lstStyle/>
          <a:p>
            <a:r>
              <a:rPr lang="es-MX" b="1" dirty="0">
                <a:latin typeface="Aptos" panose="020B0004020202020204" pitchFamily="34" charset="0"/>
              </a:rPr>
              <a:t>GRACIAS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EC9715-2B58-A461-E4EC-A5B85225A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5" t="35368" r="705" b="33648"/>
          <a:stretch>
            <a:fillRect/>
          </a:stretch>
        </p:blipFill>
        <p:spPr>
          <a:xfrm>
            <a:off x="980623" y="2454639"/>
            <a:ext cx="5841731" cy="194122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B6CFDDF-80BA-FDDD-F979-E25B05BB37C7}"/>
              </a:ext>
            </a:extLst>
          </p:cNvPr>
          <p:cNvSpPr txBox="1"/>
          <p:nvPr/>
        </p:nvSpPr>
        <p:spPr>
          <a:xfrm>
            <a:off x="7899815" y="5152151"/>
            <a:ext cx="3428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b="1" dirty="0">
                <a:latin typeface="Aptos" panose="020B0004020202020204" pitchFamily="34" charset="0"/>
              </a:rPr>
              <a:t>Carlos Alexis Pérez Cuevas</a:t>
            </a:r>
            <a:br>
              <a:rPr lang="es-MX" dirty="0">
                <a:latin typeface="Aptos" panose="020B0004020202020204" pitchFamily="34" charset="0"/>
              </a:rPr>
            </a:br>
            <a:r>
              <a:rPr lang="es-MX" dirty="0">
                <a:latin typeface="Aptos" panose="020B0004020202020204" pitchFamily="34" charset="0"/>
              </a:rPr>
              <a:t>Científico de Datos</a:t>
            </a:r>
            <a:br>
              <a:rPr lang="es-MX" dirty="0">
                <a:latin typeface="Aptos" panose="020B0004020202020204" pitchFamily="34" charset="0"/>
              </a:rPr>
            </a:br>
            <a:r>
              <a:rPr lang="es-MX" dirty="0">
                <a:latin typeface="Aptos" panose="020B0004020202020204" pitchFamily="34" charset="0"/>
              </a:rPr>
              <a:t>Curso EBAC</a:t>
            </a:r>
          </a:p>
        </p:txBody>
      </p:sp>
    </p:spTree>
    <p:extLst>
      <p:ext uri="{BB962C8B-B14F-4D97-AF65-F5344CB8AC3E}">
        <p14:creationId xmlns:p14="http://schemas.microsoft.com/office/powerpoint/2010/main" val="385436583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926</Words>
  <Application>Microsoft Office PowerPoint</Application>
  <PresentationFormat>Panorámica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Arial</vt:lpstr>
      <vt:lpstr>Calisto MT</vt:lpstr>
      <vt:lpstr>Univers Condensed</vt:lpstr>
      <vt:lpstr>ChronicleVTI</vt:lpstr>
      <vt:lpstr>Predicción y Análisis Estratégico de Ventas</vt:lpstr>
      <vt:lpstr>Presentación de PowerPoint</vt:lpstr>
      <vt:lpstr>Presentación de PowerPoint</vt:lpstr>
      <vt:lpstr>Presentación de PowerPoint</vt:lpstr>
      <vt:lpstr>ANÁLISIS EXPLORATORIO DE DATOS (EDA)</vt:lpstr>
      <vt:lpstr>IMPACTO DE DESCUENTOS Y ESTACIONALIDAD</vt:lpstr>
      <vt:lpstr>Dashboard Comercial Ejecutivo</vt:lpstr>
      <vt:lpstr>Principales Insights Comerciales</vt:lpstr>
      <vt:lpstr>Modelo Predictivo de Series Temporales</vt:lpstr>
      <vt:lpstr>Proyección de Ventas 2025</vt:lpstr>
      <vt:lpstr>RIESGOS Y OPORTUNIDADES</vt:lpstr>
      <vt:lpstr>RECOMENDACIONES ESTRATÉGICAS</vt:lpstr>
      <vt:lpstr>CONCLUSIONES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PEREZ CUEVAS ALAN EDUARDO</dc:creator>
  <cp:lastModifiedBy>PEREZ CUEVAS ALAN EDUARDO</cp:lastModifiedBy>
  <cp:revision>4</cp:revision>
  <dcterms:created xsi:type="dcterms:W3CDTF">2026-05-14T23:26:38Z</dcterms:created>
  <dcterms:modified xsi:type="dcterms:W3CDTF">2026-05-15T04:55:52Z</dcterms:modified>
</cp:coreProperties>
</file>